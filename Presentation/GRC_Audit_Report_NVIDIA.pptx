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2"/>
  </p:notesMasterIdLst>
  <p:sldIdLst>
    <p:sldId id="265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67" r:id="rId10"/>
    <p:sldId id="268" r:id="rId1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7E359B-6F43-40C2-9FFF-9C15346BD21D}">
          <p14:sldIdLst>
            <p14:sldId id="265"/>
            <p14:sldId id="257"/>
            <p14:sldId id="258"/>
            <p14:sldId id="259"/>
          </p14:sldIdLst>
        </p14:section>
        <p14:section name="Untitled Section" id="{E1B186F5-11D9-4EB4-9D41-97E59507424B}">
          <p14:sldIdLst>
            <p14:sldId id="269"/>
            <p14:sldId id="260"/>
            <p14:sldId id="270"/>
            <p14:sldId id="261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50"/>
    <a:srgbClr val="A8A8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Risks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A0-437E-A28B-654A40605C94}"/>
              </c:ext>
            </c:extLst>
          </c:dPt>
          <c:dPt>
            <c:idx val="1"/>
            <c:invertIfNegative val="0"/>
            <c:bubble3D val="0"/>
            <c:spPr>
              <a:solidFill>
                <a:srgbClr val="E873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A0-437E-A28B-654A40605C94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BA0-437E-A28B-654A40605C94}"/>
              </c:ext>
            </c:extLst>
          </c:dPt>
          <c:dPt>
            <c:idx val="3"/>
            <c:invertIfNegative val="0"/>
            <c:bubble3D val="0"/>
            <c:spPr>
              <a:solidFill>
                <a:srgbClr val="4C9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BA0-437E-A28B-654A40605C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28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7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A0-437E-A28B-654A40605C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7DEE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6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497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2857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0795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7624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8977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0103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9807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877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0543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72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1234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9759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475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  <a:alpha val="45000"/>
              </a:scheme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617735" y="2327354"/>
            <a:ext cx="1737360" cy="1737360"/>
          </a:xfrm>
          <a:prstGeom prst="roundRect">
            <a:avLst>
              <a:gd name="adj" fmla="val 28000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777" y="2742185"/>
            <a:ext cx="903427" cy="90342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6440576" y="5765733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600" dirty="0">
              <a:solidFill>
                <a:srgbClr val="333F50"/>
              </a:solidFill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649567" y="855995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&amp; COMPLIANCE</a:t>
            </a:r>
            <a:endParaRPr lang="en-US" sz="1400" dirty="0">
              <a:solidFill>
                <a:srgbClr val="333F50"/>
              </a:solidFill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615849" y="1456539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GRC Audit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4600" dirty="0"/>
          </a:p>
        </p:txBody>
      </p:sp>
      <p:sp>
        <p:nvSpPr>
          <p:cNvPr id="56" name="Text 48"/>
          <p:cNvSpPr txBox="1"/>
          <p:nvPr/>
        </p:nvSpPr>
        <p:spPr>
          <a:xfrm>
            <a:off x="685800" y="333155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Regional R&amp;D and Production Hub — Network Infrastructure Assessment</a:t>
            </a:r>
            <a:endParaRPr lang="en-US" sz="1600" dirty="0">
              <a:solidFill>
                <a:srgbClr val="333F50"/>
              </a:solidFill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703437" y="496178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703437" y="524749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</a:t>
            </a:r>
            <a:endParaRPr lang="en-US" sz="1200" dirty="0"/>
          </a:p>
        </p:txBody>
      </p:sp>
      <p:sp>
        <p:nvSpPr>
          <p:cNvPr id="59" name="Text 51"/>
          <p:cNvSpPr txBox="1"/>
          <p:nvPr/>
        </p:nvSpPr>
        <p:spPr>
          <a:xfrm>
            <a:off x="731520" y="5692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60" name="Text 52"/>
          <p:cNvSpPr txBox="1"/>
          <p:nvPr/>
        </p:nvSpPr>
        <p:spPr>
          <a:xfrm>
            <a:off x="731520" y="5980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Name — BeCode GRC Final Project</a:t>
            </a:r>
            <a:endParaRPr lang="en-US" sz="1200" dirty="0"/>
          </a:p>
        </p:txBody>
      </p:sp>
      <p:sp>
        <p:nvSpPr>
          <p:cNvPr id="61" name="Text 53"/>
          <p:cNvSpPr txBox="1"/>
          <p:nvPr/>
        </p:nvSpPr>
        <p:spPr>
          <a:xfrm>
            <a:off x="822960" y="6007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703437" y="42979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64" name="Text 56"/>
          <p:cNvSpPr txBox="1"/>
          <p:nvPr/>
        </p:nvSpPr>
        <p:spPr>
          <a:xfrm>
            <a:off x="703437" y="456189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43204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A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>
              <a:solidFill>
                <a:srgbClr val="A8A8AC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17647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Scope &amp; Objectives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756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assessed, and against which 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3880" y="2496312"/>
            <a:ext cx="1041680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253288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A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>
              <a:solidFill>
                <a:srgbClr val="A8A8AC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2606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Applicability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9169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laws and frameworks govern this deployment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041680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374136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A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>
              <a:solidFill>
                <a:srgbClr val="A8A8AC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34472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Results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375818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outcome across 14 controls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041680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215384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A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>
              <a:solidFill>
                <a:srgbClr val="A8A8AC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737360" y="428853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Priorities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5994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 and the top risks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041680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05663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8A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>
              <a:solidFill>
                <a:srgbClr val="A8A8AC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737360" y="512978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5440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happen before production go-live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  ·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Scope &amp;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70129" y="133684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>
              <a:solidFill>
                <a:srgbClr val="333F50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18022" y="187452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delivered network design against NVIDIA’s RFQ requirements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compliance and control gaps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documented configurations with the Packet Tracer implementation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whether security controls are present where documented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clear, actionable recommendations before go-live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65790" y="1201910"/>
            <a:ext cx="48929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29834" y="1668780"/>
            <a:ext cx="566928" cy="566928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616" y="1798076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61544" y="158911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61544" y="190458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Accountability, security ownership, and documented operational processes.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880360"/>
            <a:ext cx="4892984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29834" y="3310573"/>
            <a:ext cx="566928" cy="566928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896" y="340851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61544" y="32183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061544" y="3534156"/>
            <a:ext cx="38723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vulnerabilities, and architectural weaknesses affecting CIA.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17624" y="4592068"/>
            <a:ext cx="4853112" cy="132130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81964" y="4977654"/>
            <a:ext cx="566928" cy="566928"/>
          </a:xfrm>
          <a:prstGeom prst="ellipse">
            <a:avLst/>
          </a:prstGeom>
          <a:solidFill>
            <a:srgbClr val="4C9A6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668" y="511954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61544" y="49194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061544" y="5216652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controls satisfy RFQ requirements and recognised standards.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06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>
              <a:solidFill>
                <a:srgbClr val="333F50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48640" y="60990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8640" y="609904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RFQ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837944" y="6099048"/>
            <a:ext cx="2248510" cy="329184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837944" y="6099048"/>
            <a:ext cx="22485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Document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232758" y="6099048"/>
            <a:ext cx="2333549" cy="329184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232758" y="6099048"/>
            <a:ext cx="2333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File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712610" y="6099048"/>
            <a:ext cx="1568196" cy="329184"/>
          </a:xfrm>
          <a:prstGeom prst="roundRect">
            <a:avLst>
              <a:gd name="adj" fmla="val 50000"/>
            </a:avLst>
          </a:prstGeom>
          <a:solidFill>
            <a:srgbClr val="E7ECF3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712610" y="6099048"/>
            <a:ext cx="1568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</a:t>
            </a: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>
              <a:solidFill>
                <a:srgbClr val="333F50"/>
              </a:solidFill>
            </a:endParaRPr>
          </a:p>
        </p:txBody>
      </p:sp>
      <p:sp>
        <p:nvSpPr>
          <p:cNvPr id="30" name="Text 25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Applicability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purpose and activities of the Regional Hub, not technology alone</a:t>
            </a:r>
            <a:endParaRPr lang="en-US" sz="1300" dirty="0">
              <a:solidFill>
                <a:srgbClr val="333F50"/>
              </a:solidFill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8181"/>
              </p:ext>
            </p:extLst>
          </p:nvPr>
        </p:nvGraphicFramePr>
        <p:xfrm>
          <a:off x="548640" y="1508760"/>
          <a:ext cx="10448436" cy="4846320"/>
        </p:xfrm>
        <a:graphic>
          <a:graphicData uri="http://schemas.openxmlformats.org/drawingml/2006/table">
            <a:tbl>
              <a:tblPr/>
              <a:tblGrid>
                <a:gridCol w="284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Regulation / Standard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Basis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GDPR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9A6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 employees; processes personal data in an EU Member State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NIS2 / Belgian NIS2 Act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9A6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Applies — Important Entity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R&amp;D and manufacturing are sectors covered by NIS2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CyFun (CCB)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9A6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Belgian framework supporting Belgian NIS2 alignment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ISO/IEC 27001 / 27005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Voluntary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compulsory, but a recognised security-management route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Act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Uncertain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NVIDIA's provider/deployer role is not yet established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Cyber Resilience Act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B8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apply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Obligations sit with device manufacturers, not NVIDIA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DORA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B8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apply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a financial-sector entity or service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838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SOC 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B8C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apply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3F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US client-facing service identified</a:t>
                      </a: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  · 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F12B3C-79B4-E32D-E446-378A3349349E}"/>
              </a:ext>
            </a:extLst>
          </p:cNvPr>
          <p:cNvSpPr txBox="1"/>
          <p:nvPr/>
        </p:nvSpPr>
        <p:spPr>
          <a:xfrm>
            <a:off x="4175931" y="652148"/>
            <a:ext cx="30358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</a:rPr>
              <a:t>Audit Checklist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C11705-5C2F-3056-207C-F6171394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94" y="1480117"/>
            <a:ext cx="10421087" cy="443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2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Checklist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controls assessed across access control, network segmentation, logging &amp; monitoring, data protection, supply chain, governance, documentation, and configuration management.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167128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39" y="232074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16712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99" y="232074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3749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PASSED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838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58300" y="2140989"/>
            <a:ext cx="640080" cy="640080"/>
          </a:xfrm>
          <a:prstGeom prst="ellipse">
            <a:avLst/>
          </a:prstGeom>
          <a:solidFill>
            <a:srgbClr val="4C9A6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1919" y="230321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63840" y="2926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C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3"/>
          <p:cNvSpPr txBox="1"/>
          <p:nvPr/>
        </p:nvSpPr>
        <p:spPr>
          <a:xfrm>
            <a:off x="7932420" y="373532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PASSED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333F5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50566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Unsatisfactory — High Remediation Priority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55138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could be confirmed as fully compliant based on the evidence reviewed. Material weaknesses exist in both the technical security baseline and supporting governance and documentation.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  ·  Confidential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02C521-BC9C-77A7-E8AD-45BCA0EE4E7C}"/>
              </a:ext>
            </a:extLst>
          </p:cNvPr>
          <p:cNvSpPr txBox="1"/>
          <p:nvPr/>
        </p:nvSpPr>
        <p:spPr>
          <a:xfrm>
            <a:off x="4261294" y="849886"/>
            <a:ext cx="2673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</a:rPr>
              <a:t>Risk Register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29BB04-E5CE-6A40-F480-FC5DE150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43" y="1781301"/>
            <a:ext cx="10800201" cy="283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8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 — Severity Distribution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risks identified, derived from failed and partially-passed controls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4922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00200"/>
            <a:ext cx="3908272" cy="1143000"/>
          </a:xfrm>
          <a:prstGeom prst="roundRect">
            <a:avLst>
              <a:gd name="adj" fmla="val 8000"/>
            </a:avLst>
          </a:prstGeom>
          <a:solidFill>
            <a:srgbClr val="333F5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0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91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RISKS</a:t>
            </a:r>
            <a:endParaRPr lang="en-US" sz="1200" dirty="0"/>
          </a:p>
          <a:p>
            <a:pPr marL="0" indent="0">
              <a:buNone/>
            </a:pPr>
            <a:r>
              <a:rPr lang="en-US" sz="1200" b="1" kern="0" spc="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9260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PRIORITIES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246120"/>
            <a:ext cx="39082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838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34072" y="346557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34072" y="34655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3558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reused administrative credentials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269480" y="4343400"/>
            <a:ext cx="39082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838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34072" y="456285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34072" y="45628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NS-01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4531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network permits unrestricted traffic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5440680"/>
            <a:ext cx="39082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838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34072" y="566013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34072" y="56601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DP-02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366760" y="5550408"/>
            <a:ext cx="2975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exposed in project documentation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  · 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Immediate Priorities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complete before production go-live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50442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2E142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14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1417320" cy="347472"/>
          </a:xfrm>
          <a:prstGeom prst="rect">
            <a:avLst/>
          </a:prstGeom>
          <a:solidFill>
            <a:srgbClr val="333F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58568"/>
            <a:ext cx="504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weak, reused administrative credentials and RADIUS shared secrets; rotate anything exposed.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6432" y="1600200"/>
            <a:ext cx="495924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2E142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97600" y="180136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14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97600" y="1801368"/>
            <a:ext cx="1417320" cy="347472"/>
          </a:xfrm>
          <a:prstGeom prst="rect">
            <a:avLst/>
          </a:prstGeom>
          <a:solidFill>
            <a:srgbClr val="333F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NS-01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2258568"/>
            <a:ext cx="475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ALLOW_ALL firewall rule with documented least-privilege rules and default deny.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0442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2E142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44728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14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447288"/>
            <a:ext cx="1417320" cy="347472"/>
          </a:xfrm>
          <a:prstGeom prst="rect">
            <a:avLst/>
          </a:prstGeom>
          <a:solidFill>
            <a:srgbClr val="333F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DP-02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904488"/>
            <a:ext cx="504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credentials and secrets from project documentation and rotate them immediately.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6432" y="3246120"/>
            <a:ext cx="495924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2E142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97600" y="344728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14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97600" y="3447288"/>
            <a:ext cx="1417320" cy="347472"/>
          </a:xfrm>
          <a:prstGeom prst="rect">
            <a:avLst/>
          </a:prstGeom>
          <a:solidFill>
            <a:srgbClr val="333F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AC-02 / DP-01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904488"/>
            <a:ext cx="475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MFA for VPN access and replace FTP with an encrypted transfer protocol (SFTP/FTPS).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0442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2E142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0932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14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5093208"/>
            <a:ext cx="1417320" cy="347472"/>
          </a:xfrm>
          <a:prstGeom prst="rect">
            <a:avLst/>
          </a:prstGeom>
          <a:solidFill>
            <a:srgbClr val="333F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GV-01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550408"/>
            <a:ext cx="504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named NVIDIA cybersecurity owner before handover.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6432" y="4892040"/>
            <a:ext cx="4959248" cy="1444752"/>
          </a:xfrm>
          <a:prstGeom prst="roundRect">
            <a:avLst>
              <a:gd name="adj" fmla="val 5696"/>
            </a:avLst>
          </a:prstGeom>
          <a:solidFill>
            <a:srgbClr val="333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7600" y="538581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A8A8AC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5495544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019392" y="5029200"/>
            <a:ext cx="4044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3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High and Medium risks must be remediated, or formally risk-accepted by the appropriate NVIDIA authority, before production deployment.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  ·  Confidential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/>
          <p:cNvSpPr/>
          <p:nvPr/>
        </p:nvSpPr>
        <p:spPr>
          <a:xfrm>
            <a:off x="4419295" y="0"/>
            <a:ext cx="0" cy="6858000"/>
          </a:xfrm>
          <a:prstGeom prst="line">
            <a:avLst/>
          </a:prstGeom>
          <a:noFill/>
          <a:ln w="12700">
            <a:solidFill>
              <a:srgbClr val="96395D">
                <a:alpha val="4500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340967" y="2258083"/>
            <a:ext cx="1737360" cy="1737360"/>
          </a:xfrm>
          <a:prstGeom prst="roundRect">
            <a:avLst>
              <a:gd name="adj" fmla="val 28000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934" y="2675049"/>
            <a:ext cx="903427" cy="90342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-914400" y="5943600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5070805" y="21945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APPRECIATION</a:t>
            </a:r>
            <a:endParaRPr lang="en-US" sz="1400" dirty="0">
              <a:solidFill>
                <a:srgbClr val="333F50"/>
              </a:solidFill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5036515" y="2468880"/>
            <a:ext cx="6537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A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6" name="Text 48"/>
          <p:cNvSpPr txBox="1"/>
          <p:nvPr/>
        </p:nvSpPr>
        <p:spPr>
          <a:xfrm>
            <a:off x="5105095" y="3309885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>
              <a:solidFill>
                <a:srgbClr val="333F50"/>
              </a:solidFill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5105095" y="4709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5105095" y="4965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NVIDIA-REG-RD-2026-1106</a:t>
            </a:r>
            <a:endParaRPr lang="en-US" sz="1200" dirty="0"/>
          </a:p>
        </p:txBody>
      </p:sp>
      <p:sp>
        <p:nvSpPr>
          <p:cNvPr id="59" name="Text 51"/>
          <p:cNvSpPr txBox="1"/>
          <p:nvPr/>
        </p:nvSpPr>
        <p:spPr>
          <a:xfrm>
            <a:off x="8534095" y="4709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60" name="Text 52"/>
          <p:cNvSpPr txBox="1"/>
          <p:nvPr/>
        </p:nvSpPr>
        <p:spPr>
          <a:xfrm>
            <a:off x="8534095" y="4965192"/>
            <a:ext cx="2616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group name — BeCode GRC Final Project</a:t>
            </a:r>
            <a:endParaRPr lang="en-US" sz="1200" dirty="0"/>
          </a:p>
        </p:txBody>
      </p:sp>
      <p:sp>
        <p:nvSpPr>
          <p:cNvPr id="61" name="Text 53"/>
          <p:cNvSpPr txBox="1"/>
          <p:nvPr/>
        </p:nvSpPr>
        <p:spPr>
          <a:xfrm>
            <a:off x="5105095" y="5367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5105095" y="5623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3" name="Text 55"/>
          <p:cNvSpPr txBox="1"/>
          <p:nvPr/>
        </p:nvSpPr>
        <p:spPr>
          <a:xfrm>
            <a:off x="8534095" y="5367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>
              <a:solidFill>
                <a:srgbClr val="333F50"/>
              </a:solidFill>
            </a:endParaRPr>
          </a:p>
        </p:txBody>
      </p:sp>
      <p:sp>
        <p:nvSpPr>
          <p:cNvPr id="64" name="Text 56"/>
          <p:cNvSpPr txBox="1"/>
          <p:nvPr/>
        </p:nvSpPr>
        <p:spPr>
          <a:xfrm>
            <a:off x="8534095" y="5623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52</TotalTime>
  <Words>597</Words>
  <Application>Microsoft Office PowerPoint</Application>
  <PresentationFormat>Widescreen</PresentationFormat>
  <Paragraphs>145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Umrah Javed</cp:lastModifiedBy>
  <cp:revision>5</cp:revision>
  <dcterms:created xsi:type="dcterms:W3CDTF">2026-09-18T07:38:05Z</dcterms:created>
  <dcterms:modified xsi:type="dcterms:W3CDTF">2026-09-23T15:26:21Z</dcterms:modified>
</cp:coreProperties>
</file>